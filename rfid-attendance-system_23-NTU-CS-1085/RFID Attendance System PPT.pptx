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7" r:id="rId5"/>
    <p:sldId id="288" r:id="rId6"/>
    <p:sldId id="267" r:id="rId7"/>
    <p:sldId id="289" r:id="rId8"/>
    <p:sldId id="273" r:id="rId9"/>
    <p:sldId id="300" r:id="rId10"/>
    <p:sldId id="290" r:id="rId11"/>
    <p:sldId id="291" r:id="rId12"/>
    <p:sldId id="293" r:id="rId13"/>
    <p:sldId id="294" r:id="rId14"/>
    <p:sldId id="295" r:id="rId15"/>
    <p:sldId id="296" r:id="rId16"/>
    <p:sldId id="297" r:id="rId17"/>
    <p:sldId id="258" r:id="rId18"/>
    <p:sldId id="259" r:id="rId19"/>
    <p:sldId id="298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964"/>
    <a:srgbClr val="0F2B45"/>
    <a:srgbClr val="113F61"/>
    <a:srgbClr val="7B2B91"/>
    <a:srgbClr val="E18FD7"/>
    <a:srgbClr val="D256C3"/>
    <a:srgbClr val="A02C92"/>
    <a:srgbClr val="CE4ABE"/>
    <a:srgbClr val="9F25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F008A6-88D0-4942-B046-D9EBB0850B51}" v="77" dt="2025-05-18T08:26:54.5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09920-F55A-4C7D-86B1-82E993722AD3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334E82E-FF6E-4D72-BFFF-F6D8EAC31D02}">
      <dgm:prSet/>
      <dgm:spPr/>
      <dgm:t>
        <a:bodyPr/>
        <a:lstStyle/>
        <a:p>
          <a:r>
            <a:rPr lang="en-US" dirty="0"/>
            <a:t>System connects to Wi-Fi successfully</a:t>
          </a:r>
        </a:p>
      </dgm:t>
    </dgm:pt>
    <dgm:pt modelId="{E47D1EF8-99F8-4367-86DF-C6E3FFF37C2A}" type="parTrans" cxnId="{22080174-14F2-4029-AC47-450DAE9791DF}">
      <dgm:prSet/>
      <dgm:spPr/>
      <dgm:t>
        <a:bodyPr/>
        <a:lstStyle/>
        <a:p>
          <a:endParaRPr lang="en-US"/>
        </a:p>
      </dgm:t>
    </dgm:pt>
    <dgm:pt modelId="{304C6289-91E6-43F1-A8A1-8AEBE5B822DE}" type="sibTrans" cxnId="{22080174-14F2-4029-AC47-450DAE9791DF}">
      <dgm:prSet/>
      <dgm:spPr/>
      <dgm:t>
        <a:bodyPr/>
        <a:lstStyle/>
        <a:p>
          <a:endParaRPr lang="en-US"/>
        </a:p>
      </dgm:t>
    </dgm:pt>
    <dgm:pt modelId="{07B4FE11-0783-4150-971E-B24324E10BE4}">
      <dgm:prSet/>
      <dgm:spPr/>
      <dgm:t>
        <a:bodyPr/>
        <a:lstStyle/>
        <a:p>
          <a:pPr>
            <a:buNone/>
          </a:pPr>
          <a:r>
            <a:rPr lang="en-US" dirty="0"/>
            <a:t>Duplicate card → Red LED + double beep</a:t>
          </a:r>
        </a:p>
      </dgm:t>
    </dgm:pt>
    <dgm:pt modelId="{70D93A7B-FCF9-4F95-9EEB-6D53A5FFCD0A}" type="parTrans" cxnId="{4EAACA45-528B-454F-9D50-5D5819D4C84C}">
      <dgm:prSet/>
      <dgm:spPr/>
      <dgm:t>
        <a:bodyPr/>
        <a:lstStyle/>
        <a:p>
          <a:endParaRPr lang="en-US"/>
        </a:p>
      </dgm:t>
    </dgm:pt>
    <dgm:pt modelId="{6F9DB6C1-075A-48EC-A35F-FDEBBCDA3B8C}" type="sibTrans" cxnId="{4EAACA45-528B-454F-9D50-5D5819D4C84C}">
      <dgm:prSet/>
      <dgm:spPr/>
      <dgm:t>
        <a:bodyPr/>
        <a:lstStyle/>
        <a:p>
          <a:endParaRPr lang="en-US"/>
        </a:p>
      </dgm:t>
    </dgm:pt>
    <dgm:pt modelId="{5CA2F768-E43F-41BF-938C-CD9BBEA84279}">
      <dgm:prSet/>
      <dgm:spPr/>
      <dgm:t>
        <a:bodyPr/>
        <a:lstStyle/>
        <a:p>
          <a:r>
            <a:rPr lang="en-US" b="0" i="0" baseline="0" dirty="0"/>
            <a:t>Fast, accurate, and reliable system</a:t>
          </a:r>
          <a:endParaRPr lang="en-US" dirty="0"/>
        </a:p>
      </dgm:t>
    </dgm:pt>
    <dgm:pt modelId="{029D8E32-3952-45BF-97EF-F287F0AD2D5C}" type="parTrans" cxnId="{DF0D5AA4-C847-46A8-ACFE-05E5C92E0870}">
      <dgm:prSet/>
      <dgm:spPr/>
      <dgm:t>
        <a:bodyPr/>
        <a:lstStyle/>
        <a:p>
          <a:endParaRPr lang="en-US"/>
        </a:p>
      </dgm:t>
    </dgm:pt>
    <dgm:pt modelId="{7A648BAA-54A2-4195-83CE-6C17F5702D53}" type="sibTrans" cxnId="{DF0D5AA4-C847-46A8-ACFE-05E5C92E0870}">
      <dgm:prSet/>
      <dgm:spPr/>
      <dgm:t>
        <a:bodyPr/>
        <a:lstStyle/>
        <a:p>
          <a:endParaRPr lang="en-US"/>
        </a:p>
      </dgm:t>
    </dgm:pt>
    <dgm:pt modelId="{4FB5E39F-3BA1-44D2-8865-AB812DF78812}">
      <dgm:prSet/>
      <dgm:spPr/>
      <dgm:t>
        <a:bodyPr/>
        <a:lstStyle/>
        <a:p>
          <a:r>
            <a:rPr lang="en-US" dirty="0"/>
            <a:t>Valid card → Green LED + short beep</a:t>
          </a:r>
          <a:br>
            <a:rPr lang="en-US" dirty="0"/>
          </a:br>
          <a:endParaRPr lang="en-US" dirty="0"/>
        </a:p>
      </dgm:t>
    </dgm:pt>
    <dgm:pt modelId="{6F19C65F-F06B-400C-99C4-1ADC711FD218}" type="parTrans" cxnId="{5BA82BDD-2BB9-4803-8C71-EDBDC27D4D15}">
      <dgm:prSet/>
      <dgm:spPr/>
      <dgm:t>
        <a:bodyPr/>
        <a:lstStyle/>
        <a:p>
          <a:endParaRPr lang="en-US"/>
        </a:p>
      </dgm:t>
    </dgm:pt>
    <dgm:pt modelId="{C1056824-42F3-4070-8BEA-B04E65BF0A2C}" type="sibTrans" cxnId="{5BA82BDD-2BB9-4803-8C71-EDBDC27D4D15}">
      <dgm:prSet/>
      <dgm:spPr/>
      <dgm:t>
        <a:bodyPr/>
        <a:lstStyle/>
        <a:p>
          <a:endParaRPr lang="en-US"/>
        </a:p>
      </dgm:t>
    </dgm:pt>
    <dgm:pt modelId="{78833147-9B8C-4F9C-A0AF-6B5A6E682D54}">
      <dgm:prSet/>
      <dgm:spPr/>
      <dgm:t>
        <a:bodyPr/>
        <a:lstStyle/>
        <a:p>
          <a:r>
            <a:rPr lang="en-US" dirty="0"/>
            <a:t>Attendance updated in Google Sheet</a:t>
          </a:r>
        </a:p>
      </dgm:t>
    </dgm:pt>
    <dgm:pt modelId="{63142FE1-AB80-4807-873F-FB38F8B6A234}" type="parTrans" cxnId="{34F4F760-AB47-40CA-9F6E-4873F19247AD}">
      <dgm:prSet/>
      <dgm:spPr/>
      <dgm:t>
        <a:bodyPr/>
        <a:lstStyle/>
        <a:p>
          <a:endParaRPr lang="en-US"/>
        </a:p>
      </dgm:t>
    </dgm:pt>
    <dgm:pt modelId="{A206FE32-2F37-49BD-9707-87296FC1856A}" type="sibTrans" cxnId="{34F4F760-AB47-40CA-9F6E-4873F19247AD}">
      <dgm:prSet/>
      <dgm:spPr/>
      <dgm:t>
        <a:bodyPr/>
        <a:lstStyle/>
        <a:p>
          <a:endParaRPr lang="en-US"/>
        </a:p>
      </dgm:t>
    </dgm:pt>
    <dgm:pt modelId="{0C219FE5-EFE3-43E7-AA58-F48BBFDFBEA7}" type="pres">
      <dgm:prSet presAssocID="{A7009920-F55A-4C7D-86B1-82E993722AD3}" presName="vert0" presStyleCnt="0">
        <dgm:presLayoutVars>
          <dgm:dir/>
          <dgm:animOne val="branch"/>
          <dgm:animLvl val="lvl"/>
        </dgm:presLayoutVars>
      </dgm:prSet>
      <dgm:spPr/>
    </dgm:pt>
    <dgm:pt modelId="{520FD4BA-7D29-46A7-96CD-703F6923784F}" type="pres">
      <dgm:prSet presAssocID="{1334E82E-FF6E-4D72-BFFF-F6D8EAC31D02}" presName="thickLine" presStyleLbl="alignNode1" presStyleIdx="0" presStyleCnt="5"/>
      <dgm:spPr/>
    </dgm:pt>
    <dgm:pt modelId="{7A9DA635-66BF-4A91-A561-3EE8B87EC5E2}" type="pres">
      <dgm:prSet presAssocID="{1334E82E-FF6E-4D72-BFFF-F6D8EAC31D02}" presName="horz1" presStyleCnt="0"/>
      <dgm:spPr/>
    </dgm:pt>
    <dgm:pt modelId="{2D89770C-7FCB-465D-BFE5-93330444C955}" type="pres">
      <dgm:prSet presAssocID="{1334E82E-FF6E-4D72-BFFF-F6D8EAC31D02}" presName="tx1" presStyleLbl="revTx" presStyleIdx="0" presStyleCnt="5"/>
      <dgm:spPr/>
    </dgm:pt>
    <dgm:pt modelId="{DA7B1788-36E3-4908-95D6-F4D8D37A6199}" type="pres">
      <dgm:prSet presAssocID="{1334E82E-FF6E-4D72-BFFF-F6D8EAC31D02}" presName="vert1" presStyleCnt="0"/>
      <dgm:spPr/>
    </dgm:pt>
    <dgm:pt modelId="{9B8B9F9A-A6C8-485E-B97E-8DD68CFC889E}" type="pres">
      <dgm:prSet presAssocID="{4FB5E39F-3BA1-44D2-8865-AB812DF78812}" presName="thickLine" presStyleLbl="alignNode1" presStyleIdx="1" presStyleCnt="5"/>
      <dgm:spPr/>
    </dgm:pt>
    <dgm:pt modelId="{6C9711F0-FD2F-4B59-835A-21F82A3E99BF}" type="pres">
      <dgm:prSet presAssocID="{4FB5E39F-3BA1-44D2-8865-AB812DF78812}" presName="horz1" presStyleCnt="0"/>
      <dgm:spPr/>
    </dgm:pt>
    <dgm:pt modelId="{80D9F81C-3A9D-40FA-84A3-ECD1EE809832}" type="pres">
      <dgm:prSet presAssocID="{4FB5E39F-3BA1-44D2-8865-AB812DF78812}" presName="tx1" presStyleLbl="revTx" presStyleIdx="1" presStyleCnt="5"/>
      <dgm:spPr/>
    </dgm:pt>
    <dgm:pt modelId="{CA2EF686-7DF0-483E-A14A-B7F4B2CB5DFE}" type="pres">
      <dgm:prSet presAssocID="{4FB5E39F-3BA1-44D2-8865-AB812DF78812}" presName="vert1" presStyleCnt="0"/>
      <dgm:spPr/>
    </dgm:pt>
    <dgm:pt modelId="{1DE139FD-CD2B-47D6-8D01-149B39475065}" type="pres">
      <dgm:prSet presAssocID="{07B4FE11-0783-4150-971E-B24324E10BE4}" presName="thickLine" presStyleLbl="alignNode1" presStyleIdx="2" presStyleCnt="5"/>
      <dgm:spPr/>
    </dgm:pt>
    <dgm:pt modelId="{C99D71D1-71A1-4F1B-9388-3F8D72CBC60E}" type="pres">
      <dgm:prSet presAssocID="{07B4FE11-0783-4150-971E-B24324E10BE4}" presName="horz1" presStyleCnt="0"/>
      <dgm:spPr/>
    </dgm:pt>
    <dgm:pt modelId="{6F949CC2-3AEE-4D0A-96DB-B18EA2E0B223}" type="pres">
      <dgm:prSet presAssocID="{07B4FE11-0783-4150-971E-B24324E10BE4}" presName="tx1" presStyleLbl="revTx" presStyleIdx="2" presStyleCnt="5"/>
      <dgm:spPr/>
    </dgm:pt>
    <dgm:pt modelId="{3260CCD7-C516-4C02-AF35-4AA3F9E9F916}" type="pres">
      <dgm:prSet presAssocID="{07B4FE11-0783-4150-971E-B24324E10BE4}" presName="vert1" presStyleCnt="0"/>
      <dgm:spPr/>
    </dgm:pt>
    <dgm:pt modelId="{A34EC194-5102-4818-A5D0-0F131C3DB190}" type="pres">
      <dgm:prSet presAssocID="{78833147-9B8C-4F9C-A0AF-6B5A6E682D54}" presName="thickLine" presStyleLbl="alignNode1" presStyleIdx="3" presStyleCnt="5"/>
      <dgm:spPr/>
    </dgm:pt>
    <dgm:pt modelId="{18CDE454-2768-44EE-9D53-6F0837EB12AB}" type="pres">
      <dgm:prSet presAssocID="{78833147-9B8C-4F9C-A0AF-6B5A6E682D54}" presName="horz1" presStyleCnt="0"/>
      <dgm:spPr/>
    </dgm:pt>
    <dgm:pt modelId="{38F8F3BB-18DE-45E7-94BF-B8ED5F825EA7}" type="pres">
      <dgm:prSet presAssocID="{78833147-9B8C-4F9C-A0AF-6B5A6E682D54}" presName="tx1" presStyleLbl="revTx" presStyleIdx="3" presStyleCnt="5"/>
      <dgm:spPr/>
    </dgm:pt>
    <dgm:pt modelId="{BA16162A-90C1-4D5C-AA19-F6E6CF3945F6}" type="pres">
      <dgm:prSet presAssocID="{78833147-9B8C-4F9C-A0AF-6B5A6E682D54}" presName="vert1" presStyleCnt="0"/>
      <dgm:spPr/>
    </dgm:pt>
    <dgm:pt modelId="{D0551006-E63B-48D8-8BBC-401D73C042C0}" type="pres">
      <dgm:prSet presAssocID="{5CA2F768-E43F-41BF-938C-CD9BBEA84279}" presName="thickLine" presStyleLbl="alignNode1" presStyleIdx="4" presStyleCnt="5"/>
      <dgm:spPr/>
    </dgm:pt>
    <dgm:pt modelId="{A29A8606-CA5A-47E4-9428-00E3225613DE}" type="pres">
      <dgm:prSet presAssocID="{5CA2F768-E43F-41BF-938C-CD9BBEA84279}" presName="horz1" presStyleCnt="0"/>
      <dgm:spPr/>
    </dgm:pt>
    <dgm:pt modelId="{D68760B5-027F-4944-B333-D858F2B4E2D5}" type="pres">
      <dgm:prSet presAssocID="{5CA2F768-E43F-41BF-938C-CD9BBEA84279}" presName="tx1" presStyleLbl="revTx" presStyleIdx="4" presStyleCnt="5"/>
      <dgm:spPr/>
    </dgm:pt>
    <dgm:pt modelId="{566AE0F7-D8A6-4C3F-8602-5FC1324EC3B6}" type="pres">
      <dgm:prSet presAssocID="{5CA2F768-E43F-41BF-938C-CD9BBEA84279}" presName="vert1" presStyleCnt="0"/>
      <dgm:spPr/>
    </dgm:pt>
  </dgm:ptLst>
  <dgm:cxnLst>
    <dgm:cxn modelId="{F5679903-0875-43B3-B063-4E0E17BDC072}" type="presOf" srcId="{4FB5E39F-3BA1-44D2-8865-AB812DF78812}" destId="{80D9F81C-3A9D-40FA-84A3-ECD1EE809832}" srcOrd="0" destOrd="0" presId="urn:microsoft.com/office/officeart/2008/layout/LinedList"/>
    <dgm:cxn modelId="{34F4F760-AB47-40CA-9F6E-4873F19247AD}" srcId="{A7009920-F55A-4C7D-86B1-82E993722AD3}" destId="{78833147-9B8C-4F9C-A0AF-6B5A6E682D54}" srcOrd="3" destOrd="0" parTransId="{63142FE1-AB80-4807-873F-FB38F8B6A234}" sibTransId="{A206FE32-2F37-49BD-9707-87296FC1856A}"/>
    <dgm:cxn modelId="{4EAACA45-528B-454F-9D50-5D5819D4C84C}" srcId="{A7009920-F55A-4C7D-86B1-82E993722AD3}" destId="{07B4FE11-0783-4150-971E-B24324E10BE4}" srcOrd="2" destOrd="0" parTransId="{70D93A7B-FCF9-4F95-9EEB-6D53A5FFCD0A}" sibTransId="{6F9DB6C1-075A-48EC-A35F-FDEBBCDA3B8C}"/>
    <dgm:cxn modelId="{7AAB4A4C-02ED-4D8A-AC3F-2A8F0F09E357}" type="presOf" srcId="{78833147-9B8C-4F9C-A0AF-6B5A6E682D54}" destId="{38F8F3BB-18DE-45E7-94BF-B8ED5F825EA7}" srcOrd="0" destOrd="0" presId="urn:microsoft.com/office/officeart/2008/layout/LinedList"/>
    <dgm:cxn modelId="{618F9753-0BE4-458E-B66A-CC02458B6FBD}" type="presOf" srcId="{1334E82E-FF6E-4D72-BFFF-F6D8EAC31D02}" destId="{2D89770C-7FCB-465D-BFE5-93330444C955}" srcOrd="0" destOrd="0" presId="urn:microsoft.com/office/officeart/2008/layout/LinedList"/>
    <dgm:cxn modelId="{22080174-14F2-4029-AC47-450DAE9791DF}" srcId="{A7009920-F55A-4C7D-86B1-82E993722AD3}" destId="{1334E82E-FF6E-4D72-BFFF-F6D8EAC31D02}" srcOrd="0" destOrd="0" parTransId="{E47D1EF8-99F8-4367-86DF-C6E3FFF37C2A}" sibTransId="{304C6289-91E6-43F1-A8A1-8AEBE5B822DE}"/>
    <dgm:cxn modelId="{835001A1-B4DD-4456-9292-CB3E2527A5F6}" type="presOf" srcId="{5CA2F768-E43F-41BF-938C-CD9BBEA84279}" destId="{D68760B5-027F-4944-B333-D858F2B4E2D5}" srcOrd="0" destOrd="0" presId="urn:microsoft.com/office/officeart/2008/layout/LinedList"/>
    <dgm:cxn modelId="{DF0D5AA4-C847-46A8-ACFE-05E5C92E0870}" srcId="{A7009920-F55A-4C7D-86B1-82E993722AD3}" destId="{5CA2F768-E43F-41BF-938C-CD9BBEA84279}" srcOrd="4" destOrd="0" parTransId="{029D8E32-3952-45BF-97EF-F287F0AD2D5C}" sibTransId="{7A648BAA-54A2-4195-83CE-6C17F5702D53}"/>
    <dgm:cxn modelId="{C5BD11CA-D1B8-431B-BEEB-12F4A4F64657}" type="presOf" srcId="{07B4FE11-0783-4150-971E-B24324E10BE4}" destId="{6F949CC2-3AEE-4D0A-96DB-B18EA2E0B223}" srcOrd="0" destOrd="0" presId="urn:microsoft.com/office/officeart/2008/layout/LinedList"/>
    <dgm:cxn modelId="{9B8367CC-B729-480C-BC5F-B7876BDBB783}" type="presOf" srcId="{A7009920-F55A-4C7D-86B1-82E993722AD3}" destId="{0C219FE5-EFE3-43E7-AA58-F48BBFDFBEA7}" srcOrd="0" destOrd="0" presId="urn:microsoft.com/office/officeart/2008/layout/LinedList"/>
    <dgm:cxn modelId="{5BA82BDD-2BB9-4803-8C71-EDBDC27D4D15}" srcId="{A7009920-F55A-4C7D-86B1-82E993722AD3}" destId="{4FB5E39F-3BA1-44D2-8865-AB812DF78812}" srcOrd="1" destOrd="0" parTransId="{6F19C65F-F06B-400C-99C4-1ADC711FD218}" sibTransId="{C1056824-42F3-4070-8BEA-B04E65BF0A2C}"/>
    <dgm:cxn modelId="{EE681C31-92E7-4F8F-BA71-AED55990D805}" type="presParOf" srcId="{0C219FE5-EFE3-43E7-AA58-F48BBFDFBEA7}" destId="{520FD4BA-7D29-46A7-96CD-703F6923784F}" srcOrd="0" destOrd="0" presId="urn:microsoft.com/office/officeart/2008/layout/LinedList"/>
    <dgm:cxn modelId="{FF1B9A0F-21BC-45BA-94F9-FD4513054AAD}" type="presParOf" srcId="{0C219FE5-EFE3-43E7-AA58-F48BBFDFBEA7}" destId="{7A9DA635-66BF-4A91-A561-3EE8B87EC5E2}" srcOrd="1" destOrd="0" presId="urn:microsoft.com/office/officeart/2008/layout/LinedList"/>
    <dgm:cxn modelId="{A7BB1452-4961-4053-8FF1-90DA81E7FC81}" type="presParOf" srcId="{7A9DA635-66BF-4A91-A561-3EE8B87EC5E2}" destId="{2D89770C-7FCB-465D-BFE5-93330444C955}" srcOrd="0" destOrd="0" presId="urn:microsoft.com/office/officeart/2008/layout/LinedList"/>
    <dgm:cxn modelId="{CF27E374-98C3-4990-A89D-F02E44CE86A4}" type="presParOf" srcId="{7A9DA635-66BF-4A91-A561-3EE8B87EC5E2}" destId="{DA7B1788-36E3-4908-95D6-F4D8D37A6199}" srcOrd="1" destOrd="0" presId="urn:microsoft.com/office/officeart/2008/layout/LinedList"/>
    <dgm:cxn modelId="{C6E269BB-D2A1-41AE-BBB0-E0802F39A2CD}" type="presParOf" srcId="{0C219FE5-EFE3-43E7-AA58-F48BBFDFBEA7}" destId="{9B8B9F9A-A6C8-485E-B97E-8DD68CFC889E}" srcOrd="2" destOrd="0" presId="urn:microsoft.com/office/officeart/2008/layout/LinedList"/>
    <dgm:cxn modelId="{304CD4CD-F43D-45BF-823E-167048E0DD98}" type="presParOf" srcId="{0C219FE5-EFE3-43E7-AA58-F48BBFDFBEA7}" destId="{6C9711F0-FD2F-4B59-835A-21F82A3E99BF}" srcOrd="3" destOrd="0" presId="urn:microsoft.com/office/officeart/2008/layout/LinedList"/>
    <dgm:cxn modelId="{420C8CAB-53F7-47E9-960B-94661ECDA915}" type="presParOf" srcId="{6C9711F0-FD2F-4B59-835A-21F82A3E99BF}" destId="{80D9F81C-3A9D-40FA-84A3-ECD1EE809832}" srcOrd="0" destOrd="0" presId="urn:microsoft.com/office/officeart/2008/layout/LinedList"/>
    <dgm:cxn modelId="{B4DE13A3-133F-4ABD-869D-43E23AC0CAF7}" type="presParOf" srcId="{6C9711F0-FD2F-4B59-835A-21F82A3E99BF}" destId="{CA2EF686-7DF0-483E-A14A-B7F4B2CB5DFE}" srcOrd="1" destOrd="0" presId="urn:microsoft.com/office/officeart/2008/layout/LinedList"/>
    <dgm:cxn modelId="{567341D2-C948-448D-B6C5-89BF0BA4F787}" type="presParOf" srcId="{0C219FE5-EFE3-43E7-AA58-F48BBFDFBEA7}" destId="{1DE139FD-CD2B-47D6-8D01-149B39475065}" srcOrd="4" destOrd="0" presId="urn:microsoft.com/office/officeart/2008/layout/LinedList"/>
    <dgm:cxn modelId="{52FD19C7-7262-4DCB-878D-50A961B367F6}" type="presParOf" srcId="{0C219FE5-EFE3-43E7-AA58-F48BBFDFBEA7}" destId="{C99D71D1-71A1-4F1B-9388-3F8D72CBC60E}" srcOrd="5" destOrd="0" presId="urn:microsoft.com/office/officeart/2008/layout/LinedList"/>
    <dgm:cxn modelId="{64D2B611-FFDC-4A7D-9BED-E37F7DC3F400}" type="presParOf" srcId="{C99D71D1-71A1-4F1B-9388-3F8D72CBC60E}" destId="{6F949CC2-3AEE-4D0A-96DB-B18EA2E0B223}" srcOrd="0" destOrd="0" presId="urn:microsoft.com/office/officeart/2008/layout/LinedList"/>
    <dgm:cxn modelId="{90444D28-7CB3-45A2-93D3-B6512744777A}" type="presParOf" srcId="{C99D71D1-71A1-4F1B-9388-3F8D72CBC60E}" destId="{3260CCD7-C516-4C02-AF35-4AA3F9E9F916}" srcOrd="1" destOrd="0" presId="urn:microsoft.com/office/officeart/2008/layout/LinedList"/>
    <dgm:cxn modelId="{86ACEB4E-7128-4086-95B1-AE8A81F9CB38}" type="presParOf" srcId="{0C219FE5-EFE3-43E7-AA58-F48BBFDFBEA7}" destId="{A34EC194-5102-4818-A5D0-0F131C3DB190}" srcOrd="6" destOrd="0" presId="urn:microsoft.com/office/officeart/2008/layout/LinedList"/>
    <dgm:cxn modelId="{6A832FD8-F492-45DA-9914-B0D31DB449DF}" type="presParOf" srcId="{0C219FE5-EFE3-43E7-AA58-F48BBFDFBEA7}" destId="{18CDE454-2768-44EE-9D53-6F0837EB12AB}" srcOrd="7" destOrd="0" presId="urn:microsoft.com/office/officeart/2008/layout/LinedList"/>
    <dgm:cxn modelId="{72C93CD7-A76B-4DA6-8711-B1474C34D36F}" type="presParOf" srcId="{18CDE454-2768-44EE-9D53-6F0837EB12AB}" destId="{38F8F3BB-18DE-45E7-94BF-B8ED5F825EA7}" srcOrd="0" destOrd="0" presId="urn:microsoft.com/office/officeart/2008/layout/LinedList"/>
    <dgm:cxn modelId="{F4533882-7C08-4FB0-9A68-9A72024C7413}" type="presParOf" srcId="{18CDE454-2768-44EE-9D53-6F0837EB12AB}" destId="{BA16162A-90C1-4D5C-AA19-F6E6CF3945F6}" srcOrd="1" destOrd="0" presId="urn:microsoft.com/office/officeart/2008/layout/LinedList"/>
    <dgm:cxn modelId="{D2863DA8-A2F7-4C71-B8AE-FC2C8E66F974}" type="presParOf" srcId="{0C219FE5-EFE3-43E7-AA58-F48BBFDFBEA7}" destId="{D0551006-E63B-48D8-8BBC-401D73C042C0}" srcOrd="8" destOrd="0" presId="urn:microsoft.com/office/officeart/2008/layout/LinedList"/>
    <dgm:cxn modelId="{CBEEE89B-5C55-4DD5-9100-51B1C2576B08}" type="presParOf" srcId="{0C219FE5-EFE3-43E7-AA58-F48BBFDFBEA7}" destId="{A29A8606-CA5A-47E4-9428-00E3225613DE}" srcOrd="9" destOrd="0" presId="urn:microsoft.com/office/officeart/2008/layout/LinedList"/>
    <dgm:cxn modelId="{1C1F7E92-4EED-4A87-A442-C1F5384F433D}" type="presParOf" srcId="{A29A8606-CA5A-47E4-9428-00E3225613DE}" destId="{D68760B5-027F-4944-B333-D858F2B4E2D5}" srcOrd="0" destOrd="0" presId="urn:microsoft.com/office/officeart/2008/layout/LinedList"/>
    <dgm:cxn modelId="{C0302DE4-DA6A-425C-8EC3-6682BAEE72FC}" type="presParOf" srcId="{A29A8606-CA5A-47E4-9428-00E3225613DE}" destId="{566AE0F7-D8A6-4C3F-8602-5FC1324EC3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0FD4BA-7D29-46A7-96CD-703F6923784F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D89770C-7FCB-465D-BFE5-93330444C955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System connects to Wi-Fi successfully</a:t>
          </a:r>
        </a:p>
      </dsp:txBody>
      <dsp:txXfrm>
        <a:off x="0" y="531"/>
        <a:ext cx="10515600" cy="870055"/>
      </dsp:txXfrm>
    </dsp:sp>
    <dsp:sp modelId="{9B8B9F9A-A6C8-485E-B97E-8DD68CFC889E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0D9F81C-3A9D-40FA-84A3-ECD1EE809832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Valid card → Green LED + short beep</a:t>
          </a:r>
          <a:br>
            <a:rPr lang="en-US" sz="2400" kern="1200" dirty="0"/>
          </a:br>
          <a:endParaRPr lang="en-US" sz="2400" kern="1200" dirty="0"/>
        </a:p>
      </dsp:txBody>
      <dsp:txXfrm>
        <a:off x="0" y="870586"/>
        <a:ext cx="10515600" cy="870055"/>
      </dsp:txXfrm>
    </dsp:sp>
    <dsp:sp modelId="{1DE139FD-CD2B-47D6-8D01-149B39475065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F949CC2-3AEE-4D0A-96DB-B18EA2E0B223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Duplicate card → Red LED + double beep</a:t>
          </a:r>
        </a:p>
      </dsp:txBody>
      <dsp:txXfrm>
        <a:off x="0" y="1740641"/>
        <a:ext cx="10515600" cy="870055"/>
      </dsp:txXfrm>
    </dsp:sp>
    <dsp:sp modelId="{A34EC194-5102-4818-A5D0-0F131C3DB190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8F8F3BB-18DE-45E7-94BF-B8ED5F825EA7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Attendance updated in Google Sheet</a:t>
          </a:r>
        </a:p>
      </dsp:txBody>
      <dsp:txXfrm>
        <a:off x="0" y="2610696"/>
        <a:ext cx="10515600" cy="870055"/>
      </dsp:txXfrm>
    </dsp:sp>
    <dsp:sp modelId="{D0551006-E63B-48D8-8BBC-401D73C042C0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68760B5-027F-4944-B333-D858F2B4E2D5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Fast, accurate, and reliable system</a:t>
          </a:r>
          <a:endParaRPr lang="en-US" sz="2400" kern="1200" dirty="0"/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AD398-43A1-43E4-85E4-D7C6E25A1FB2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1FB1D-F541-46C6-B6CE-EC4C9F5F1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4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1FB1D-F541-46C6-B6CE-EC4C9F5F1E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0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1FB1D-F541-46C6-B6CE-EC4C9F5F1E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06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77DF-E818-DC45-C83F-2918B157C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DF120-1D62-BEE0-367A-DD2A8F994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293F8-DA48-34A3-C46E-B3814A4D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738CA-1611-C539-4E2C-80851DEF6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795AC-24FC-1580-F81F-FA280955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3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FE09-A2FC-9AC0-E90D-C92FDEFD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8F99F-DEFB-4A90-A913-9127866C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09EC2-AFE5-FEF0-569A-9A634E42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4829C-E80D-1507-B048-31E668D1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A94C5-BE11-E400-30A6-DD08EB999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1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7279-192D-55B8-77C5-EA51D65AE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8C212-E50E-216F-08E7-4649268AB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7657C-FF6A-4CC2-4D18-4C50DA81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A1ABF-26D1-1A0C-2E4D-532D99E2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E5991-B7D4-93E3-D4F3-BC5DC523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3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14A2-6E8A-B70C-601A-8EF5101B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A319E-0E70-7959-1700-586BD5A5F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CBACBB-0F2A-8F07-699A-ED9AAC164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49B2A-886C-222F-A0FD-417D1970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B1F2C-3157-1B97-C9EF-6E73EEE7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CC220-38E6-7001-0AD0-8FE3CE4C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F434-D3AB-C237-2EF7-974913A7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A1953-AA96-3B90-2DA6-E52FC004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174711-C182-04C8-4449-385F2C9C5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82C788-F2F8-EE1F-0A1C-B513F3A0CD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FC112-BB4D-0CAB-BE19-8220E5B12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771AE-7083-5549-7466-8C48C975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39E0D-79C6-0E5C-E4B1-3B291595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40B2B0-261B-702E-478B-150D92A7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0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DA7B-2F07-2E45-E82D-E48465B7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3E908-B267-CD56-9309-61DAFCA0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AE9EB-1CC9-71CC-B127-FC6502A0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9B431-7DFC-9694-BE0F-15304BF75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0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DF7AE-AD49-A8DF-F6FB-798CE15B4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A93C5-AF0B-37B6-287E-76C34AB4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73CAB-EA44-9296-AD9A-AFDD5FF6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67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F690-19AC-EE58-9897-146ABE71B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2717F-A032-C475-EC91-9E4D34DC6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0C130-80C8-C277-4B28-674309166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5721E-30FC-460A-496E-9718103C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54C6F-BA78-7472-B7A1-A6C5BC84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46C8-A8B7-382B-865E-AE48A158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36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FF23-27E2-A7EB-D0A1-BE2745A22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288E9-54C6-C320-053C-D351836BC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501A6-5269-0827-1800-4F2116A44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B7013-3AE3-1402-E580-21B9C832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55218-C9E3-5080-F1B1-DF89DB3B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361B-8E0A-D74A-81EB-FE01E0CF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12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947B-8F06-DBAE-2C9F-F3E769C53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0336D-109E-7758-27D7-AA471CEC4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85E9-9EF3-7B77-39B4-1A25619B8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EC811-FCBE-3EC0-A181-32F119BB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FB0DE-4314-95D4-A767-8C67B595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2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2BAF40-4090-15AF-69D5-A972D45C1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60A0E-80CC-AAD7-65AC-5371CB0A3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AB588-5E98-7746-3B21-688D937C7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76AA-49F3-FF19-D43E-4EF4CE154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03B3-9416-DF8E-CD26-10F99C6A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5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9344A6-9122-1641-2F19-E81123DA8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92565-78F0-E9AB-70AA-41AB01281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3A650-2D36-E896-4CB4-7109D1C07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212F3-B7F8-473B-8739-47DD8FF39EEC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8967C-CBF0-0B1F-B787-5C0DF908B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F05A-EFBC-F28E-0F14-D010E8E1B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DFD7A-C72B-4053-92C3-B700AD97C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1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duinokitproject.com/how-rfid-works-rc522-arduino-tutorial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F208BD1-7BDB-6D4A-44C8-F1C1E2DB5200}"/>
              </a:ext>
            </a:extLst>
          </p:cNvPr>
          <p:cNvGrpSpPr/>
          <p:nvPr/>
        </p:nvGrpSpPr>
        <p:grpSpPr>
          <a:xfrm>
            <a:off x="304799" y="139390"/>
            <a:ext cx="11582402" cy="6579219"/>
            <a:chOff x="664028" y="300036"/>
            <a:chExt cx="11103431" cy="6257929"/>
          </a:xfrm>
          <a:blipFill>
            <a:blip r:embed="rId2"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glow>
              <a:schemeClr val="accent1">
                <a:alpha val="30000"/>
              </a:schemeClr>
            </a:glow>
          </a:effectLst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26E3F50-F4D1-4E85-6D6D-DBC9CEB9A9B5}"/>
                </a:ext>
              </a:extLst>
            </p:cNvPr>
            <p:cNvSpPr/>
            <p:nvPr/>
          </p:nvSpPr>
          <p:spPr>
            <a:xfrm>
              <a:off x="664028" y="1234846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93E7D23-0D54-309E-52BD-1CB14BB25E47}"/>
                </a:ext>
              </a:extLst>
            </p:cNvPr>
            <p:cNvSpPr/>
            <p:nvPr/>
          </p:nvSpPr>
          <p:spPr>
            <a:xfrm>
              <a:off x="1317171" y="2203164"/>
              <a:ext cx="653143" cy="26911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BC2EC8C-5C77-4919-0267-41E6E96BDC04}"/>
                </a:ext>
              </a:extLst>
            </p:cNvPr>
            <p:cNvSpPr/>
            <p:nvPr/>
          </p:nvSpPr>
          <p:spPr>
            <a:xfrm>
              <a:off x="1970314" y="1234846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0D10E86-ADA9-6C3C-F747-10E3BEABEF5E}"/>
                </a:ext>
              </a:extLst>
            </p:cNvPr>
            <p:cNvSpPr/>
            <p:nvPr/>
          </p:nvSpPr>
          <p:spPr>
            <a:xfrm>
              <a:off x="2623457" y="315004"/>
              <a:ext cx="653143" cy="62429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C5C93C-B12D-DBCF-C06F-5D688AED0554}"/>
                </a:ext>
              </a:extLst>
            </p:cNvPr>
            <p:cNvSpPr/>
            <p:nvPr/>
          </p:nvSpPr>
          <p:spPr>
            <a:xfrm>
              <a:off x="3276600" y="1234847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4D49582-E0E0-DEDB-EEA1-F3403C689870}"/>
                </a:ext>
              </a:extLst>
            </p:cNvPr>
            <p:cNvSpPr/>
            <p:nvPr/>
          </p:nvSpPr>
          <p:spPr>
            <a:xfrm>
              <a:off x="3929743" y="2203165"/>
              <a:ext cx="653143" cy="26911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92D74FA-C51A-64C6-54A7-6BFFAFBB7396}"/>
                </a:ext>
              </a:extLst>
            </p:cNvPr>
            <p:cNvSpPr/>
            <p:nvPr/>
          </p:nvSpPr>
          <p:spPr>
            <a:xfrm>
              <a:off x="4582886" y="1234847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C3F81E-3B9D-CB7C-38DA-B055B6D9CE57}"/>
                </a:ext>
              </a:extLst>
            </p:cNvPr>
            <p:cNvSpPr/>
            <p:nvPr/>
          </p:nvSpPr>
          <p:spPr>
            <a:xfrm>
              <a:off x="5236029" y="315005"/>
              <a:ext cx="653143" cy="62429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D21EA18-2D8B-49D5-479C-8E6983331E0B}"/>
                </a:ext>
              </a:extLst>
            </p:cNvPr>
            <p:cNvSpPr/>
            <p:nvPr/>
          </p:nvSpPr>
          <p:spPr>
            <a:xfrm>
              <a:off x="5889171" y="887181"/>
              <a:ext cx="653143" cy="532312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2CC39CD-77FB-F3F6-6D40-390ADC2332FD}"/>
                </a:ext>
              </a:extLst>
            </p:cNvPr>
            <p:cNvSpPr/>
            <p:nvPr/>
          </p:nvSpPr>
          <p:spPr>
            <a:xfrm>
              <a:off x="6542315" y="1234846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3930E28-48C6-AD62-7B4C-F91083BAEF2F}"/>
                </a:ext>
              </a:extLst>
            </p:cNvPr>
            <p:cNvSpPr/>
            <p:nvPr/>
          </p:nvSpPr>
          <p:spPr>
            <a:xfrm>
              <a:off x="7195458" y="2203164"/>
              <a:ext cx="653143" cy="26911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17F6507-D769-EAF9-1AD9-C096BC6CA1F1}"/>
                </a:ext>
              </a:extLst>
            </p:cNvPr>
            <p:cNvSpPr/>
            <p:nvPr/>
          </p:nvSpPr>
          <p:spPr>
            <a:xfrm>
              <a:off x="7848601" y="1234846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5D69B382-DB2F-707D-0307-795892215D09}"/>
                </a:ext>
              </a:extLst>
            </p:cNvPr>
            <p:cNvSpPr/>
            <p:nvPr/>
          </p:nvSpPr>
          <p:spPr>
            <a:xfrm>
              <a:off x="8501744" y="315004"/>
              <a:ext cx="653143" cy="62429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3D5FC33-AF7C-6259-47E0-A65786D4C806}"/>
                </a:ext>
              </a:extLst>
            </p:cNvPr>
            <p:cNvSpPr/>
            <p:nvPr/>
          </p:nvSpPr>
          <p:spPr>
            <a:xfrm>
              <a:off x="9154887" y="1219878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76AA384-D0FD-C1A7-C2D7-47F47A5C6923}"/>
                </a:ext>
              </a:extLst>
            </p:cNvPr>
            <p:cNvSpPr/>
            <p:nvPr/>
          </p:nvSpPr>
          <p:spPr>
            <a:xfrm>
              <a:off x="9808030" y="2188196"/>
              <a:ext cx="653143" cy="269115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80C7CF8-C378-2DCF-0F58-953ABB475EFE}"/>
                </a:ext>
              </a:extLst>
            </p:cNvPr>
            <p:cNvSpPr/>
            <p:nvPr/>
          </p:nvSpPr>
          <p:spPr>
            <a:xfrm>
              <a:off x="10461173" y="1219878"/>
              <a:ext cx="653143" cy="462779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BE4F6C2-8738-FE08-8EA3-EEB6E74BCBD0}"/>
                </a:ext>
              </a:extLst>
            </p:cNvPr>
            <p:cNvSpPr/>
            <p:nvPr/>
          </p:nvSpPr>
          <p:spPr>
            <a:xfrm>
              <a:off x="11114316" y="300036"/>
              <a:ext cx="653143" cy="624296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pc="18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CE6E7B0-40B9-3A5B-AC87-9454A06B05C6}"/>
              </a:ext>
            </a:extLst>
          </p:cNvPr>
          <p:cNvSpPr txBox="1"/>
          <p:nvPr/>
        </p:nvSpPr>
        <p:spPr>
          <a:xfrm>
            <a:off x="2008094" y="2713962"/>
            <a:ext cx="759583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  <a:latin typeface="STCaiyun" panose="02010800040101010101" pitchFamily="2" charset="-122"/>
                <a:ea typeface="STCaiyun" panose="02010800040101010101" pitchFamily="2" charset="-122"/>
              </a:rPr>
              <a:t>WELCOME</a:t>
            </a:r>
            <a:endParaRPr lang="en-US" sz="9600" b="1" dirty="0">
              <a:solidFill>
                <a:schemeClr val="bg1"/>
              </a:solidFill>
              <a:latin typeface="STCaiyun" panose="02010800040101010101" pitchFamily="2" charset="-122"/>
              <a:ea typeface="STCaiyun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51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240FA7-023D-FCD7-4CD5-29958F7255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26" b="6954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55931E-3E28-6EA7-3341-74E5F7E5C511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>
                <a:solidFill>
                  <a:srgbClr val="FFFFFF"/>
                </a:solidFill>
                <a:latin typeface="Aptos Black" panose="020B0004020202020204" pitchFamily="34" charset="0"/>
                <a:ea typeface="+mj-ea"/>
                <a:cs typeface="+mj-cs"/>
              </a:rPr>
              <a:t>RFID Attendance System </a:t>
            </a:r>
          </a:p>
        </p:txBody>
      </p:sp>
    </p:spTree>
    <p:extLst>
      <p:ext uri="{BB962C8B-B14F-4D97-AF65-F5344CB8AC3E}">
        <p14:creationId xmlns:p14="http://schemas.microsoft.com/office/powerpoint/2010/main" val="1197682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365C4-1BE1-32E1-7C21-E3B531651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E4EDC1D-815A-5F77-32D0-498B1D6E0DE8}"/>
              </a:ext>
            </a:extLst>
          </p:cNvPr>
          <p:cNvGrpSpPr/>
          <p:nvPr/>
        </p:nvGrpSpPr>
        <p:grpSpPr>
          <a:xfrm>
            <a:off x="394447" y="0"/>
            <a:ext cx="4839473" cy="6858000"/>
            <a:chOff x="6317206" y="0"/>
            <a:chExt cx="3214198" cy="68580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AFE808-CCB7-4AC3-B824-DF8EA92921D5}"/>
                </a:ext>
              </a:extLst>
            </p:cNvPr>
            <p:cNvSpPr/>
            <p:nvPr/>
          </p:nvSpPr>
          <p:spPr>
            <a:xfrm>
              <a:off x="6317206" y="0"/>
              <a:ext cx="298323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13E50A-A7F9-5478-1A7D-E2AA46211549}"/>
                </a:ext>
              </a:extLst>
            </p:cNvPr>
            <p:cNvSpPr txBox="1"/>
            <p:nvPr/>
          </p:nvSpPr>
          <p:spPr>
            <a:xfrm>
              <a:off x="6534150" y="1516380"/>
              <a:ext cx="2747010" cy="323165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Qurat ul Ain</a:t>
              </a:r>
            </a:p>
            <a:p>
              <a:endParaRPr lang="en-US" sz="44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6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23-NTU-CS-1085</a:t>
              </a: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EEC0ECCE-EF09-D6EA-4057-B4DD46ADF9DF}"/>
                </a:ext>
              </a:extLst>
            </p:cNvPr>
            <p:cNvSpPr/>
            <p:nvPr/>
          </p:nvSpPr>
          <p:spPr>
            <a:xfrm rot="13117291">
              <a:off x="9030918" y="276868"/>
              <a:ext cx="500486" cy="96264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C5E9A2-DF7F-3E95-43AE-6ABB96F7A277}"/>
              </a:ext>
            </a:extLst>
          </p:cNvPr>
          <p:cNvGrpSpPr/>
          <p:nvPr/>
        </p:nvGrpSpPr>
        <p:grpSpPr>
          <a:xfrm>
            <a:off x="227445" y="0"/>
            <a:ext cx="4613496" cy="6858000"/>
            <a:chOff x="3074670" y="0"/>
            <a:chExt cx="3510671" cy="68580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3A4824-610D-F543-08D4-5C3AEF87DABD}"/>
                </a:ext>
              </a:extLst>
            </p:cNvPr>
            <p:cNvSpPr/>
            <p:nvPr/>
          </p:nvSpPr>
          <p:spPr>
            <a:xfrm>
              <a:off x="3074670" y="0"/>
              <a:ext cx="322326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ED1FB3-0E8F-C70B-4F68-40508BEC44FD}"/>
                </a:ext>
              </a:extLst>
            </p:cNvPr>
            <p:cNvSpPr txBox="1"/>
            <p:nvPr/>
          </p:nvSpPr>
          <p:spPr>
            <a:xfrm>
              <a:off x="3390900" y="1516380"/>
              <a:ext cx="2747010" cy="323165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Rida khan</a:t>
              </a:r>
            </a:p>
            <a:p>
              <a:endParaRPr lang="en-US" sz="44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6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23-NTU-CS-1087</a:t>
              </a:r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76B26943-970B-E035-11A1-CC66228A1F29}"/>
                </a:ext>
              </a:extLst>
            </p:cNvPr>
            <p:cNvSpPr/>
            <p:nvPr/>
          </p:nvSpPr>
          <p:spPr>
            <a:xfrm rot="13359130">
              <a:off x="6010519" y="339112"/>
              <a:ext cx="574822" cy="83815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5716ACB-4040-4C6A-4523-5394A5A3F7AE}"/>
              </a:ext>
            </a:extLst>
          </p:cNvPr>
          <p:cNvGrpSpPr/>
          <p:nvPr/>
        </p:nvGrpSpPr>
        <p:grpSpPr>
          <a:xfrm>
            <a:off x="-1013" y="0"/>
            <a:ext cx="4429578" cy="6858000"/>
            <a:chOff x="897001" y="0"/>
            <a:chExt cx="3355739" cy="6858000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5A39CC8-56CA-06CD-8A6F-5A53DA66BD3E}"/>
                </a:ext>
              </a:extLst>
            </p:cNvPr>
            <p:cNvSpPr/>
            <p:nvPr/>
          </p:nvSpPr>
          <p:spPr>
            <a:xfrm>
              <a:off x="897001" y="0"/>
              <a:ext cx="307467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C214B2-45EF-8F21-E36A-60A2C4BD0C17}"/>
                </a:ext>
              </a:extLst>
            </p:cNvPr>
            <p:cNvSpPr txBox="1"/>
            <p:nvPr/>
          </p:nvSpPr>
          <p:spPr>
            <a:xfrm>
              <a:off x="964912" y="1369416"/>
              <a:ext cx="3006760" cy="210826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Zainab </a:t>
              </a:r>
              <a:r>
                <a:rPr lang="en-US" sz="45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Sultan</a:t>
              </a:r>
            </a:p>
            <a:p>
              <a:endParaRPr lang="en-US" sz="54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2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23-NTU-CS-1097</a:t>
              </a: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0B836755-CC85-765B-A5DE-AA68E7B5C566}"/>
                </a:ext>
              </a:extLst>
            </p:cNvPr>
            <p:cNvSpPr/>
            <p:nvPr/>
          </p:nvSpPr>
          <p:spPr>
            <a:xfrm rot="13321436">
              <a:off x="3681980" y="348152"/>
              <a:ext cx="570760" cy="84320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EC15DF5-546C-CB8B-955A-14B86A261139}"/>
              </a:ext>
            </a:extLst>
          </p:cNvPr>
          <p:cNvSpPr txBox="1"/>
          <p:nvPr/>
        </p:nvSpPr>
        <p:spPr>
          <a:xfrm>
            <a:off x="5773305" y="1604010"/>
            <a:ext cx="67779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ptos Black" panose="020B0004020202020204" pitchFamily="34" charset="0"/>
              </a:rPr>
              <a:t>Project members</a:t>
            </a:r>
          </a:p>
        </p:txBody>
      </p:sp>
    </p:spTree>
    <p:extLst>
      <p:ext uri="{BB962C8B-B14F-4D97-AF65-F5344CB8AC3E}">
        <p14:creationId xmlns:p14="http://schemas.microsoft.com/office/powerpoint/2010/main" val="300638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6EB02-2E5B-D224-68ED-2F569C7B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31CB22A-2D8B-BE39-DCFE-92594F8D0ED4}"/>
              </a:ext>
            </a:extLst>
          </p:cNvPr>
          <p:cNvGrpSpPr/>
          <p:nvPr/>
        </p:nvGrpSpPr>
        <p:grpSpPr>
          <a:xfrm>
            <a:off x="7977749" y="0"/>
            <a:ext cx="4839473" cy="6858000"/>
            <a:chOff x="6317206" y="0"/>
            <a:chExt cx="3214198" cy="68580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396C615-2C44-A379-912A-DD3CA0344736}"/>
                </a:ext>
              </a:extLst>
            </p:cNvPr>
            <p:cNvSpPr/>
            <p:nvPr/>
          </p:nvSpPr>
          <p:spPr>
            <a:xfrm>
              <a:off x="6317206" y="0"/>
              <a:ext cx="298323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34E086-98FC-8B54-7629-B4103E78F69B}"/>
                </a:ext>
              </a:extLst>
            </p:cNvPr>
            <p:cNvSpPr txBox="1"/>
            <p:nvPr/>
          </p:nvSpPr>
          <p:spPr>
            <a:xfrm>
              <a:off x="6534150" y="1516380"/>
              <a:ext cx="2747010" cy="200054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Qura-tul-Ain</a:t>
              </a:r>
            </a:p>
            <a:p>
              <a:endParaRPr lang="en-US" sz="44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6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23-NTU-CS-1085</a:t>
              </a: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8B222996-D5E3-E930-3C50-2C31CC9EC12A}"/>
                </a:ext>
              </a:extLst>
            </p:cNvPr>
            <p:cNvSpPr/>
            <p:nvPr/>
          </p:nvSpPr>
          <p:spPr>
            <a:xfrm rot="13117291">
              <a:off x="9030918" y="276868"/>
              <a:ext cx="500486" cy="96264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F12B227-A282-57A1-3C41-CF11060B14BB}"/>
              </a:ext>
            </a:extLst>
          </p:cNvPr>
          <p:cNvGrpSpPr/>
          <p:nvPr/>
        </p:nvGrpSpPr>
        <p:grpSpPr>
          <a:xfrm>
            <a:off x="4052876" y="0"/>
            <a:ext cx="4613496" cy="6858000"/>
            <a:chOff x="3074670" y="0"/>
            <a:chExt cx="3510671" cy="6858000"/>
          </a:xfrm>
          <a:solidFill>
            <a:schemeClr val="tx2">
              <a:lumMod val="75000"/>
              <a:lumOff val="25000"/>
            </a:schemeClr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CED344-A3F3-BE18-3968-6F5ECC6DEFC2}"/>
                </a:ext>
              </a:extLst>
            </p:cNvPr>
            <p:cNvSpPr/>
            <p:nvPr/>
          </p:nvSpPr>
          <p:spPr>
            <a:xfrm>
              <a:off x="3074670" y="0"/>
              <a:ext cx="322326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A13DE2-84CA-716B-5FD0-5258F3F9E819}"/>
                </a:ext>
              </a:extLst>
            </p:cNvPr>
            <p:cNvSpPr txBox="1"/>
            <p:nvPr/>
          </p:nvSpPr>
          <p:spPr>
            <a:xfrm>
              <a:off x="3390900" y="1516380"/>
              <a:ext cx="2747010" cy="193899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Rida Khan</a:t>
              </a:r>
            </a:p>
            <a:p>
              <a:endParaRPr lang="en-US" sz="44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2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23-NTU-CS-1087</a:t>
              </a:r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A594E173-10E7-C6DE-7324-CE744D2F0FD3}"/>
                </a:ext>
              </a:extLst>
            </p:cNvPr>
            <p:cNvSpPr/>
            <p:nvPr/>
          </p:nvSpPr>
          <p:spPr>
            <a:xfrm rot="13359130">
              <a:off x="6010519" y="339112"/>
              <a:ext cx="574822" cy="83815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9D928B-E8F9-E1EF-DD5D-54ADF5B3D801}"/>
              </a:ext>
            </a:extLst>
          </p:cNvPr>
          <p:cNvGrpSpPr/>
          <p:nvPr/>
        </p:nvGrpSpPr>
        <p:grpSpPr>
          <a:xfrm>
            <a:off x="0" y="0"/>
            <a:ext cx="4429578" cy="6858000"/>
            <a:chOff x="897001" y="0"/>
            <a:chExt cx="3355739" cy="6858000"/>
          </a:xfrm>
          <a:solidFill>
            <a:schemeClr val="tx2">
              <a:lumMod val="90000"/>
              <a:lumOff val="1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3F9DE4-1A01-B26F-3945-1295D6D997FD}"/>
                </a:ext>
              </a:extLst>
            </p:cNvPr>
            <p:cNvSpPr/>
            <p:nvPr/>
          </p:nvSpPr>
          <p:spPr>
            <a:xfrm>
              <a:off x="897001" y="0"/>
              <a:ext cx="307467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87248C-CD74-7E45-AA9D-020E96E1809F}"/>
                </a:ext>
              </a:extLst>
            </p:cNvPr>
            <p:cNvSpPr txBox="1"/>
            <p:nvPr/>
          </p:nvSpPr>
          <p:spPr>
            <a:xfrm>
              <a:off x="998284" y="1369417"/>
              <a:ext cx="2947088" cy="201593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Zainab </a:t>
              </a:r>
              <a:r>
                <a:rPr lang="en-US" sz="45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Sultan</a:t>
              </a:r>
            </a:p>
            <a:p>
              <a:endParaRPr lang="en-US" sz="4800" dirty="0">
                <a:solidFill>
                  <a:schemeClr val="bg1"/>
                </a:solidFill>
                <a:latin typeface="Aptos Black" panose="020B0004020202020204" pitchFamily="34" charset="0"/>
              </a:endParaRPr>
            </a:p>
            <a:p>
              <a:r>
                <a:rPr lang="en-US" sz="3200" dirty="0">
                  <a:solidFill>
                    <a:schemeClr val="bg1"/>
                  </a:solidFill>
                  <a:latin typeface="Aptos Black" panose="020B0004020202020204" pitchFamily="34" charset="0"/>
                </a:rPr>
                <a:t>23-NTU-CS-1097</a:t>
              </a:r>
            </a:p>
          </p:txBody>
        </p:sp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2F98A8C8-F3FD-AF8E-FB99-8EB6C729121A}"/>
                </a:ext>
              </a:extLst>
            </p:cNvPr>
            <p:cNvSpPr/>
            <p:nvPr/>
          </p:nvSpPr>
          <p:spPr>
            <a:xfrm rot="13321436">
              <a:off x="3681980" y="348152"/>
              <a:ext cx="570760" cy="843205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569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3F6A9-962D-4087-8643-71D2A0DDA1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6E129-AFC8-FC81-5F55-738BF78E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ptos Black" panose="020B00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1309C-F8B4-7230-09AD-44E11FA43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4914" y="1775440"/>
            <a:ext cx="4389457" cy="378033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• RFID Attendance System automates student attendance</a:t>
            </a:r>
            <a:br>
              <a:rPr lang="en-US" sz="2400" dirty="0"/>
            </a:br>
            <a:r>
              <a:rPr lang="en-US" sz="2400" dirty="0"/>
              <a:t>• Replaces manual paper-based attendance</a:t>
            </a:r>
            <a:br>
              <a:rPr lang="en-US" sz="2400" dirty="0"/>
            </a:br>
            <a:r>
              <a:rPr lang="en-US" sz="2400" dirty="0"/>
              <a:t>• Uses RFID cards and ESP32 microcontroller</a:t>
            </a:r>
            <a:br>
              <a:rPr lang="en-US" sz="2400" dirty="0"/>
            </a:br>
            <a:r>
              <a:rPr lang="en-US" sz="2400" dirty="0"/>
              <a:t>• Attendance stored securely on cloud</a:t>
            </a:r>
          </a:p>
        </p:txBody>
      </p:sp>
    </p:spTree>
    <p:extLst>
      <p:ext uri="{BB962C8B-B14F-4D97-AF65-F5344CB8AC3E}">
        <p14:creationId xmlns:p14="http://schemas.microsoft.com/office/powerpoint/2010/main" val="129458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EDBD8-04DB-05D7-0C6B-01EBD6B7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9EB6-5530-AF15-13E1-2809E3E59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Aptos Black" panose="020B0004020202020204" pitchFamily="34" charset="0"/>
              </a:rPr>
              <a:t>Background</a:t>
            </a:r>
          </a:p>
        </p:txBody>
      </p:sp>
      <p:pic>
        <p:nvPicPr>
          <p:cNvPr id="1028" name="Picture 4" descr="RFID Based Attendance System using NodeMCU with Website and Database">
            <a:extLst>
              <a:ext uri="{FF2B5EF4-FFF2-40B4-BE49-F238E27FC236}">
                <a16:creationId xmlns:a16="http://schemas.microsoft.com/office/drawing/2014/main" id="{48782736-8737-55CB-2C58-3D8E07BB8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0528" y="1214744"/>
            <a:ext cx="7317748" cy="411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3636-5F02-7B17-FE96-D7DDAB61B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277837"/>
            <a:ext cx="3443514" cy="3447832"/>
          </a:xfrm>
        </p:spPr>
        <p:txBody>
          <a:bodyPr anchor="t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• Traditional attendance is time-consuming</a:t>
            </a:r>
            <a:br>
              <a:rPr lang="en-US" sz="2000" dirty="0"/>
            </a:br>
            <a:r>
              <a:rPr lang="en-US" sz="2000" dirty="0"/>
              <a:t>• Manual records are error-prone</a:t>
            </a:r>
            <a:br>
              <a:rPr lang="en-US" sz="2000" dirty="0"/>
            </a:br>
            <a:r>
              <a:rPr lang="en-US" sz="2000" dirty="0"/>
              <a:t>• Proxy attendance is common</a:t>
            </a:r>
            <a:br>
              <a:rPr lang="en-US" sz="2000" dirty="0"/>
            </a:br>
            <a:r>
              <a:rPr lang="en-US" sz="2000" dirty="0"/>
              <a:t>• No real-time access to records</a:t>
            </a:r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049" name="Rectangle 1048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Rectangle 1049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796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E690F-D85E-FD99-B3CF-A589893DED39}"/>
              </a:ext>
            </a:extLst>
          </p:cNvPr>
          <p:cNvSpPr txBox="1">
            <a:spLocks/>
          </p:cNvSpPr>
          <p:nvPr/>
        </p:nvSpPr>
        <p:spPr>
          <a:xfrm>
            <a:off x="5879610" y="956517"/>
            <a:ext cx="5248221" cy="10672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b="1" dirty="0">
                <a:solidFill>
                  <a:schemeClr val="bg1"/>
                </a:solidFill>
              </a:rPr>
              <a:t> Purpose of the Project</a:t>
            </a:r>
          </a:p>
        </p:txBody>
      </p:sp>
      <p:pic>
        <p:nvPicPr>
          <p:cNvPr id="2050" name="Picture 2" descr="RFID System: Biometric Student Attendance System for Schools.">
            <a:extLst>
              <a:ext uri="{FF2B5EF4-FFF2-40B4-BE49-F238E27FC236}">
                <a16:creationId xmlns:a16="http://schemas.microsoft.com/office/drawing/2014/main" id="{5F0CD413-2B9D-391F-AA12-44F31D2E5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0" r="4" b="4"/>
          <a:stretch>
            <a:fillRect/>
          </a:stretch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2" name="Group 206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A14C73E-09F3-4CB4-4776-8364F7ED08B1}"/>
              </a:ext>
            </a:extLst>
          </p:cNvPr>
          <p:cNvSpPr txBox="1"/>
          <p:nvPr/>
        </p:nvSpPr>
        <p:spPr>
          <a:xfrm>
            <a:off x="6234868" y="1820369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25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• Automate attendance process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Use RFID cards for identification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Record attendance in real time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• Upload attendance to Google Sheets (cloud)</a:t>
            </a:r>
          </a:p>
        </p:txBody>
      </p:sp>
      <p:grpSp>
        <p:nvGrpSpPr>
          <p:cNvPr id="206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476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C6068-C03D-A96F-C4F2-C1A08C49DE17}"/>
              </a:ext>
            </a:extLst>
          </p:cNvPr>
          <p:cNvSpPr txBox="1">
            <a:spLocks/>
          </p:cNvSpPr>
          <p:nvPr/>
        </p:nvSpPr>
        <p:spPr>
          <a:xfrm>
            <a:off x="5596501" y="489508"/>
            <a:ext cx="5754896" cy="16675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Scope of the System</a:t>
            </a:r>
          </a:p>
        </p:txBody>
      </p:sp>
      <p:pic>
        <p:nvPicPr>
          <p:cNvPr id="6" name="Graphic 5" descr="Laptop Secure">
            <a:extLst>
              <a:ext uri="{FF2B5EF4-FFF2-40B4-BE49-F238E27FC236}">
                <a16:creationId xmlns:a16="http://schemas.microsoft.com/office/drawing/2014/main" id="{9E686139-5E3E-48F3-4A70-F14933550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130" y="1275070"/>
            <a:ext cx="3876165" cy="3876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901F82-DF75-FC67-ECA0-4D04A16FB6D4}"/>
              </a:ext>
            </a:extLst>
          </p:cNvPr>
          <p:cNvSpPr txBox="1"/>
          <p:nvPr/>
        </p:nvSpPr>
        <p:spPr>
          <a:xfrm>
            <a:off x="5596501" y="2157077"/>
            <a:ext cx="5754896" cy="31974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000" dirty="0"/>
              <a:t>• RFID card scanning</a:t>
            </a:r>
            <a:br>
              <a:rPr lang="en-US" sz="2000" dirty="0"/>
            </a:br>
            <a:r>
              <a:rPr lang="en-US" sz="2000" dirty="0"/>
              <a:t>• Student identity verification</a:t>
            </a:r>
            <a:br>
              <a:rPr lang="en-US" sz="2000" dirty="0"/>
            </a:br>
            <a:r>
              <a:rPr lang="en-US" sz="2000" dirty="0"/>
              <a:t>• Duplicate attendance prevention</a:t>
            </a:r>
            <a:br>
              <a:rPr lang="en-US" sz="2000" dirty="0"/>
            </a:br>
            <a:r>
              <a:rPr lang="en-US" sz="2000" dirty="0"/>
              <a:t>• Online attendance storage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0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hat Is The Cost Of Implementing RFID Attendance System In Schools In India?">
            <a:extLst>
              <a:ext uri="{FF2B5EF4-FFF2-40B4-BE49-F238E27FC236}">
                <a16:creationId xmlns:a16="http://schemas.microsoft.com/office/drawing/2014/main" id="{0A499AF3-12D5-4AA5-F0E4-BDEF30676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0974"/>
            <a:ext cx="12547600" cy="705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F9960F-4BCE-3318-B76D-296FE226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dirty="0">
                <a:ln w="22225">
                  <a:solidFill>
                    <a:srgbClr val="FFFFFF"/>
                  </a:solidFill>
                </a:ln>
                <a:noFill/>
              </a:rPr>
              <a:t>Objectives</a:t>
            </a:r>
          </a:p>
        </p:txBody>
      </p:sp>
      <p:cxnSp>
        <p:nvCxnSpPr>
          <p:cNvPr id="3081" name="Straight Connector 3080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28C110-E56D-542E-D988-FE5BE4BE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969" y="741398"/>
            <a:ext cx="443121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FFFFFF"/>
                </a:solidFill>
              </a:rPr>
              <a:t>• Eliminate manual work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• Improve accuracy of attendance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• Enable cloud-based access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2000" b="1" dirty="0">
                <a:solidFill>
                  <a:srgbClr val="FFFFFF"/>
                </a:solidFill>
              </a:rPr>
              <a:t>• Save time for teachers</a:t>
            </a:r>
          </a:p>
        </p:txBody>
      </p:sp>
    </p:spTree>
    <p:extLst>
      <p:ext uri="{BB962C8B-B14F-4D97-AF65-F5344CB8AC3E}">
        <p14:creationId xmlns:p14="http://schemas.microsoft.com/office/powerpoint/2010/main" val="23534108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E8EDC7-16D7-6F9D-1B39-C79B4C0F0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969" y="921180"/>
            <a:ext cx="4314645" cy="12689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Target Audience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23877-0AF8-B679-2BF9-D05BE79264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0" r="517" b="-1"/>
          <a:stretch>
            <a:fillRect/>
          </a:stretch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4112" name="Rectangle 4111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6172" y="2240371"/>
            <a:ext cx="42062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CD0EE-633D-72E7-70E3-BB542BA4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6509" y="2395184"/>
            <a:ext cx="4936437" cy="2907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• Students – automatic attendance marking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Teachers – easy monitoring and management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• Educational institutions – cloud record keeping</a:t>
            </a:r>
          </a:p>
        </p:txBody>
      </p:sp>
    </p:spTree>
    <p:extLst>
      <p:ext uri="{BB962C8B-B14F-4D97-AF65-F5344CB8AC3E}">
        <p14:creationId xmlns:p14="http://schemas.microsoft.com/office/powerpoint/2010/main" val="215014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0C91B-6609-3EE2-F4CF-72CA77CDF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/>
              <a:t>System Features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D75798CA-B099-84C4-6B00-22C50239F9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1929" b="11602"/>
          <a:stretch>
            <a:fillRect/>
          </a:stretch>
        </p:blipFill>
        <p:spPr>
          <a:xfrm>
            <a:off x="-3028" y="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0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1B6AC-3BBD-4416-22CB-3DB906ED7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4" y="4306529"/>
            <a:ext cx="7534658" cy="22614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7150">
              <a:lnSpc>
                <a:spcPct val="150000"/>
              </a:lnSpc>
            </a:pPr>
            <a:r>
              <a:rPr lang="en-US" dirty="0"/>
              <a:t>• RFID-based student identification</a:t>
            </a:r>
            <a:br>
              <a:rPr lang="en-US" dirty="0"/>
            </a:br>
            <a:r>
              <a:rPr lang="en-US" dirty="0"/>
              <a:t>• Automatic attendance marking</a:t>
            </a:r>
            <a:br>
              <a:rPr lang="en-US" dirty="0"/>
            </a:br>
            <a:r>
              <a:rPr lang="en-US" dirty="0"/>
              <a:t>• Duplicate scan prevention</a:t>
            </a:r>
            <a:br>
              <a:rPr lang="en-US" dirty="0"/>
            </a:br>
            <a:r>
              <a:rPr lang="en-US" dirty="0"/>
              <a:t>• Audio &amp; visual confirmation</a:t>
            </a:r>
            <a:br>
              <a:rPr lang="en-US" dirty="0"/>
            </a:br>
            <a:r>
              <a:rPr lang="en-US" dirty="0"/>
              <a:t>• Cloud-based attendance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213E1-5DF8-3938-6CFE-5587369A31A7}"/>
              </a:ext>
            </a:extLst>
          </p:cNvPr>
          <p:cNvSpPr txBox="1"/>
          <p:nvPr/>
        </p:nvSpPr>
        <p:spPr>
          <a:xfrm>
            <a:off x="9734434" y="665793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s://arduinokitproject.com/how-rfid-works-rc522-arduino-tutorial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7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7C24-AA29-85F3-D8B8-40780DB4E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Hardware &amp; Software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D11459-9F3B-8214-E4A5-2FCD097EFED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rcRect l="17056" r="20832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5875DBB5-DAB8-B297-C98A-4EC90EE6361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153400" y="2054942"/>
            <a:ext cx="3434180" cy="4087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Hardware:</a:t>
            </a:r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ESP32</a:t>
            </a:r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RFID RC522</a:t>
            </a:r>
            <a:endParaRPr lang="en-US" altLang="en-US" sz="2000" dirty="0"/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RFID Cards</a:t>
            </a:r>
            <a:endParaRPr lang="en-US" altLang="en-US" sz="2000" dirty="0"/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OLED Display</a:t>
            </a:r>
            <a:endParaRPr lang="en-US" altLang="en-US" sz="2000" dirty="0"/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LEDs &amp; Buzzer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b="1" dirty="0"/>
          </a:p>
          <a:p>
            <a:pPr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Software:</a:t>
            </a:r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VS Code + PlatformIO</a:t>
            </a:r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Google Apps Script</a:t>
            </a:r>
            <a:endParaRPr lang="en-US" altLang="en-US" sz="2000" dirty="0"/>
          </a:p>
          <a:p>
            <a:pPr marL="342900" marR="0" lvl="0" indent="-3429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Google Sheets</a:t>
            </a:r>
          </a:p>
        </p:txBody>
      </p:sp>
    </p:spTree>
    <p:extLst>
      <p:ext uri="{BB962C8B-B14F-4D97-AF65-F5344CB8AC3E}">
        <p14:creationId xmlns:p14="http://schemas.microsoft.com/office/powerpoint/2010/main" val="2709854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loud-Based Biometric / RFID Attendance System for Schools, Colleges">
            <a:extLst>
              <a:ext uri="{FF2B5EF4-FFF2-40B4-BE49-F238E27FC236}">
                <a16:creationId xmlns:a16="http://schemas.microsoft.com/office/drawing/2014/main" id="{E23AC6BD-21F8-DDA1-3B96-A56C2A7CC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44E57A-C65D-6940-7A25-12C4B098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Testing &amp; Results</a:t>
            </a: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6136AC95-0B6E-8988-3767-63A92669EC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2167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14243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2B5A0-3762-F42B-0EAC-65DD51552445}"/>
              </a:ext>
            </a:extLst>
          </p:cNvPr>
          <p:cNvSpPr txBox="1">
            <a:spLocks/>
          </p:cNvSpPr>
          <p:nvPr/>
        </p:nvSpPr>
        <p:spPr>
          <a:xfrm>
            <a:off x="217170" y="182880"/>
            <a:ext cx="9585198" cy="804672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Arial Black" panose="020B0A04020102020204" pitchFamily="34" charset="0"/>
              </a:rPr>
              <a:t>Working of the System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BDEBEB0-97D8-D877-2B5D-DA38F3334CCC}"/>
              </a:ext>
            </a:extLst>
          </p:cNvPr>
          <p:cNvSpPr/>
          <p:nvPr/>
        </p:nvSpPr>
        <p:spPr>
          <a:xfrm>
            <a:off x="5786716" y="6881488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E8B22C3-2E8B-2186-D96F-43819C8675BE}"/>
              </a:ext>
            </a:extLst>
          </p:cNvPr>
          <p:cNvSpPr/>
          <p:nvPr/>
        </p:nvSpPr>
        <p:spPr>
          <a:xfrm>
            <a:off x="5796458" y="6858000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93706CC-C709-8F7A-4B64-35145F22709C}"/>
              </a:ext>
            </a:extLst>
          </p:cNvPr>
          <p:cNvSpPr/>
          <p:nvPr/>
        </p:nvSpPr>
        <p:spPr>
          <a:xfrm>
            <a:off x="5776968" y="6911854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4F19CD6-98A1-C6A0-E629-ABB82E7AFEF1}"/>
              </a:ext>
            </a:extLst>
          </p:cNvPr>
          <p:cNvSpPr/>
          <p:nvPr/>
        </p:nvSpPr>
        <p:spPr>
          <a:xfrm>
            <a:off x="5786713" y="6888366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385B52-0B5F-AFCE-D919-33D65A51ABC4}"/>
              </a:ext>
            </a:extLst>
          </p:cNvPr>
          <p:cNvSpPr/>
          <p:nvPr/>
        </p:nvSpPr>
        <p:spPr>
          <a:xfrm>
            <a:off x="5786715" y="6866861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D55D8F-701C-33BA-D9F5-931672EAD5C0}"/>
              </a:ext>
            </a:extLst>
          </p:cNvPr>
          <p:cNvSpPr/>
          <p:nvPr/>
        </p:nvSpPr>
        <p:spPr>
          <a:xfrm>
            <a:off x="5786715" y="6873739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1ABB4DB-C117-21A8-5BDE-9AEA56379A94}"/>
              </a:ext>
            </a:extLst>
          </p:cNvPr>
          <p:cNvSpPr/>
          <p:nvPr/>
        </p:nvSpPr>
        <p:spPr>
          <a:xfrm>
            <a:off x="5786712" y="6865314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9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F933-7F2F-3142-8148-72440152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0"/>
            <a:ext cx="11457432" cy="100339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Working of the System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532F64-9EE8-E6F0-8BDC-B62991D1A8F8}"/>
              </a:ext>
            </a:extLst>
          </p:cNvPr>
          <p:cNvSpPr/>
          <p:nvPr/>
        </p:nvSpPr>
        <p:spPr>
          <a:xfrm rot="5400000">
            <a:off x="4596116" y="4585683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FA3A443-0207-7EDA-F7B4-7F618F3A7716}"/>
              </a:ext>
            </a:extLst>
          </p:cNvPr>
          <p:cNvSpPr/>
          <p:nvPr/>
        </p:nvSpPr>
        <p:spPr>
          <a:xfrm rot="16200000">
            <a:off x="6885826" y="4585682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2F71B9-9D9E-DFBD-1302-C0296FA97ED3}"/>
              </a:ext>
            </a:extLst>
          </p:cNvPr>
          <p:cNvSpPr/>
          <p:nvPr/>
        </p:nvSpPr>
        <p:spPr>
          <a:xfrm rot="17045082">
            <a:off x="4730607" y="4230561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53029D-A097-4653-54A5-2E5A0B4FB215}"/>
              </a:ext>
            </a:extLst>
          </p:cNvPr>
          <p:cNvSpPr/>
          <p:nvPr/>
        </p:nvSpPr>
        <p:spPr>
          <a:xfrm rot="3825716">
            <a:off x="6753846" y="4071775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47F6CC-B77E-F90C-1819-C9198F19B699}"/>
              </a:ext>
            </a:extLst>
          </p:cNvPr>
          <p:cNvSpPr/>
          <p:nvPr/>
        </p:nvSpPr>
        <p:spPr>
          <a:xfrm rot="2209534">
            <a:off x="6336909" y="3693754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1707D10-014F-750F-4399-B0D1FF2893F7}"/>
              </a:ext>
            </a:extLst>
          </p:cNvPr>
          <p:cNvSpPr/>
          <p:nvPr/>
        </p:nvSpPr>
        <p:spPr>
          <a:xfrm rot="18827948">
            <a:off x="4928074" y="3786817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0AE220-293D-F909-00AD-39B0CABD5536}"/>
              </a:ext>
            </a:extLst>
          </p:cNvPr>
          <p:cNvSpPr/>
          <p:nvPr/>
        </p:nvSpPr>
        <p:spPr>
          <a:xfrm>
            <a:off x="5745130" y="3429000"/>
            <a:ext cx="1027815" cy="2251462"/>
          </a:xfrm>
          <a:custGeom>
            <a:avLst/>
            <a:gdLst>
              <a:gd name="connsiteX0" fmla="*/ 513907 w 1027815"/>
              <a:gd name="connsiteY0" fmla="*/ 0 h 2251462"/>
              <a:gd name="connsiteX1" fmla="*/ 590269 w 1027815"/>
              <a:gd name="connsiteY1" fmla="*/ 69402 h 2251462"/>
              <a:gd name="connsiteX2" fmla="*/ 1027815 w 1027815"/>
              <a:gd name="connsiteY2" fmla="*/ 1125731 h 2251462"/>
              <a:gd name="connsiteX3" fmla="*/ 590269 w 1027815"/>
              <a:gd name="connsiteY3" fmla="*/ 2182060 h 2251462"/>
              <a:gd name="connsiteX4" fmla="*/ 513908 w 1027815"/>
              <a:gd name="connsiteY4" fmla="*/ 2251462 h 2251462"/>
              <a:gd name="connsiteX5" fmla="*/ 437546 w 1027815"/>
              <a:gd name="connsiteY5" fmla="*/ 2182059 h 2251462"/>
              <a:gd name="connsiteX6" fmla="*/ 0 w 1027815"/>
              <a:gd name="connsiteY6" fmla="*/ 1125730 h 2251462"/>
              <a:gd name="connsiteX7" fmla="*/ 437546 w 1027815"/>
              <a:gd name="connsiteY7" fmla="*/ 69401 h 2251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7815" h="2251462">
                <a:moveTo>
                  <a:pt x="513907" y="0"/>
                </a:moveTo>
                <a:lnTo>
                  <a:pt x="590269" y="69402"/>
                </a:lnTo>
                <a:cubicBezTo>
                  <a:pt x="860608" y="339740"/>
                  <a:pt x="1027815" y="713209"/>
                  <a:pt x="1027815" y="1125731"/>
                </a:cubicBezTo>
                <a:cubicBezTo>
                  <a:pt x="1027815" y="1538253"/>
                  <a:pt x="860608" y="1911722"/>
                  <a:pt x="590269" y="2182060"/>
                </a:cubicBezTo>
                <a:lnTo>
                  <a:pt x="513908" y="2251462"/>
                </a:lnTo>
                <a:lnTo>
                  <a:pt x="437546" y="2182059"/>
                </a:lnTo>
                <a:cubicBezTo>
                  <a:pt x="167208" y="1911721"/>
                  <a:pt x="0" y="1538252"/>
                  <a:pt x="0" y="1125730"/>
                </a:cubicBezTo>
                <a:cubicBezTo>
                  <a:pt x="0" y="713208"/>
                  <a:pt x="167208" y="339739"/>
                  <a:pt x="437546" y="6940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9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BDC47-6141-D79D-FBE9-178A47A5E54F}"/>
              </a:ext>
            </a:extLst>
          </p:cNvPr>
          <p:cNvSpPr txBox="1"/>
          <p:nvPr/>
        </p:nvSpPr>
        <p:spPr>
          <a:xfrm>
            <a:off x="1161212" y="4928375"/>
            <a:ext cx="209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ptos Black" panose="020B00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1. RFID Card is scanned</a:t>
            </a:r>
            <a:endParaRPr lang="en-US" sz="2000" dirty="0">
              <a:latin typeface="Aptos Black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66069E-4B73-5E6C-94C2-1358832F5E89}"/>
              </a:ext>
            </a:extLst>
          </p:cNvPr>
          <p:cNvSpPr txBox="1"/>
          <p:nvPr/>
        </p:nvSpPr>
        <p:spPr>
          <a:xfrm>
            <a:off x="1630187" y="3054583"/>
            <a:ext cx="21874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ptos Black" panose="020B0004020202020204" pitchFamily="34" charset="0"/>
              </a:rPr>
              <a:t>2. RFID Reader reads UID</a:t>
            </a:r>
            <a:endParaRPr lang="en-US" sz="2000" dirty="0">
              <a:effectLst/>
              <a:latin typeface="Aptos Black" panose="020B00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9ADCCC-EAB5-3065-F4E5-AB98C9ABD46E}"/>
              </a:ext>
            </a:extLst>
          </p:cNvPr>
          <p:cNvSpPr txBox="1"/>
          <p:nvPr/>
        </p:nvSpPr>
        <p:spPr>
          <a:xfrm>
            <a:off x="3874770" y="1554480"/>
            <a:ext cx="21560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ptos Black" panose="020B00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3. ESP32 verifies student</a:t>
            </a:r>
            <a:endParaRPr lang="en-US" sz="2000" dirty="0">
              <a:latin typeface="Aptos Black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591002-DDAE-F1F7-91B9-BEDE5BA8EF3C}"/>
              </a:ext>
            </a:extLst>
          </p:cNvPr>
          <p:cNvSpPr txBox="1"/>
          <p:nvPr/>
        </p:nvSpPr>
        <p:spPr>
          <a:xfrm>
            <a:off x="6772945" y="1485532"/>
            <a:ext cx="27660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ptos Black" panose="020B00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4. Attendance recorded with date &amp; time</a:t>
            </a:r>
            <a:endParaRPr lang="en-US" sz="2000" dirty="0">
              <a:latin typeface="Aptos Black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C2A779-17D1-ACDF-1C11-518A2C5D29C3}"/>
              </a:ext>
            </a:extLst>
          </p:cNvPr>
          <p:cNvSpPr txBox="1"/>
          <p:nvPr/>
        </p:nvSpPr>
        <p:spPr>
          <a:xfrm>
            <a:off x="9097045" y="2869917"/>
            <a:ext cx="2766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ptos Black" panose="020B00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5. Data sent to Google Sheets</a:t>
            </a:r>
            <a:endParaRPr lang="en-US" sz="2000" dirty="0">
              <a:latin typeface="Aptos Black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512A88-9628-27DC-A0DF-50865DCB4C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72305" y="4972576"/>
            <a:ext cx="2766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effectLst/>
                <a:latin typeface="Aptos Black" panose="020B00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6. Card scanned again</a:t>
            </a:r>
            <a:endParaRPr lang="en-US" sz="2000" dirty="0"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648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A060B3-F994-A19F-9244-D686EB7D5BDE}"/>
              </a:ext>
            </a:extLst>
          </p:cNvPr>
          <p:cNvPicPr/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D254FC-EDBA-5317-58F0-CDCD43F8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b="1" dirty="0"/>
              <a:t>Conclusion &amp; Future Scope</a:t>
            </a:r>
            <a:endParaRPr lang="en-US" sz="44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1E716FA-686A-6E11-DA6F-6B4E0DAF0E7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Automates attendance efficiently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Eliminates proxy and manual error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Cloud-based record access</a:t>
            </a: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Future Enhancements: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Mobile app integration</a:t>
            </a:r>
          </a:p>
          <a:p>
            <a:pPr marL="342900" marR="0" lvl="0" indent="-342900" fontAlgn="base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Multiple classes &amp; sections</a:t>
            </a:r>
          </a:p>
        </p:txBody>
      </p:sp>
    </p:spTree>
    <p:extLst>
      <p:ext uri="{BB962C8B-B14F-4D97-AF65-F5344CB8AC3E}">
        <p14:creationId xmlns:p14="http://schemas.microsoft.com/office/powerpoint/2010/main" val="40842476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66B11-3693-28C9-1234-A22A0085D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88" r="2" b="9481"/>
          <a:stretch>
            <a:fillRect/>
          </a:stretch>
        </p:blipFill>
        <p:spPr>
          <a:xfrm>
            <a:off x="3882571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35C2E6D-1868-56EC-B7CC-0139C3DC5A69}"/>
              </a:ext>
            </a:extLst>
          </p:cNvPr>
          <p:cNvSpPr txBox="1"/>
          <p:nvPr/>
        </p:nvSpPr>
        <p:spPr>
          <a:xfrm>
            <a:off x="0" y="1170432"/>
            <a:ext cx="4315968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Kermit Extrabold Expanded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7412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CF1BDB9AF2D04C9C8CE32D934598DB" ma:contentTypeVersion="8" ma:contentTypeDescription="Create a new document." ma:contentTypeScope="" ma:versionID="27873647b718b58974f11c2908a4fdc3">
  <xsd:schema xmlns:xsd="http://www.w3.org/2001/XMLSchema" xmlns:xs="http://www.w3.org/2001/XMLSchema" xmlns:p="http://schemas.microsoft.com/office/2006/metadata/properties" xmlns:ns3="fd216841-1099-422f-86b7-d1c6ff34b60f" targetNamespace="http://schemas.microsoft.com/office/2006/metadata/properties" ma:root="true" ma:fieldsID="aa2eea403228707fc8ee75c3cee009e0" ns3:_="">
    <xsd:import namespace="fd216841-1099-422f-86b7-d1c6ff34b60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16841-1099-422f-86b7-d1c6ff34b60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3F0A43-9F68-440E-8E3A-9D73C469ED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A6BE55-AF58-4760-BA63-AB9FE3E20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216841-1099-422f-86b7-d1c6ff34b6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B2143F-6197-4502-90D8-D300406C9EFB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fd216841-1099-422f-86b7-d1c6ff34b60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353</Words>
  <Application>Microsoft Office PowerPoint</Application>
  <PresentationFormat>Widescreen</PresentationFormat>
  <Paragraphs>75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STCaiyun</vt:lpstr>
      <vt:lpstr>Aptos</vt:lpstr>
      <vt:lpstr>Aptos Black</vt:lpstr>
      <vt:lpstr>Aptos Display</vt:lpstr>
      <vt:lpstr>Arial</vt:lpstr>
      <vt:lpstr>Arial Black</vt:lpstr>
      <vt:lpstr>Calibri</vt:lpstr>
      <vt:lpstr>Kermit Extrabold Expanded</vt:lpstr>
      <vt:lpstr>Office Theme</vt:lpstr>
      <vt:lpstr>PowerPoint Presentation</vt:lpstr>
      <vt:lpstr>PowerPoint Presentation</vt:lpstr>
      <vt:lpstr>PowerPoint Presentation</vt:lpstr>
      <vt:lpstr>PowerPoint Presentation</vt:lpstr>
      <vt:lpstr>Introduction</vt:lpstr>
      <vt:lpstr>Background</vt:lpstr>
      <vt:lpstr>PowerPoint Presentation</vt:lpstr>
      <vt:lpstr>PowerPoint Presentation</vt:lpstr>
      <vt:lpstr>Objectives</vt:lpstr>
      <vt:lpstr>Target Audience</vt:lpstr>
      <vt:lpstr>System Features</vt:lpstr>
      <vt:lpstr>Hardware &amp; Software Used</vt:lpstr>
      <vt:lpstr>Testing &amp; Results</vt:lpstr>
      <vt:lpstr>PowerPoint Presentation</vt:lpstr>
      <vt:lpstr>Working of the System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23-NTU-CS-FL-1097</dc:creator>
  <cp:lastModifiedBy>23-NTU-CS-FL-1087</cp:lastModifiedBy>
  <cp:revision>21</cp:revision>
  <dcterms:created xsi:type="dcterms:W3CDTF">2025-05-18T05:26:55Z</dcterms:created>
  <dcterms:modified xsi:type="dcterms:W3CDTF">2026-01-04T10:25:40Z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0x01010014CF1BDB9AF2D04C9C8CE32D934598DB</vt:lpwstr>
  </property>
</Properties>
</file>